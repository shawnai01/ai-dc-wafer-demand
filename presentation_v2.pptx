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3B82F6"/>
                </a:solidFill>
              </a:defRPr>
            </a:pPr>
            <a:r>
              <a:t>AI 데이터센터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</a:defRPr>
            </a:pPr>
            <a:r>
              <a:t>반도체 웨이퍼 수요 전망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9CA3AF"/>
                </a:solidFill>
              </a:defRPr>
            </a:pPr>
            <a:r>
              <a:t>2025–2027 시나리오별 수급 분석 및 투자 시사점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0" y="4572000"/>
            <a:ext cx="2286000" cy="1097280"/>
          </a:xfrm>
          <a:prstGeom prst="roundRect">
            <a:avLst/>
          </a:prstGeom>
          <a:solidFill>
            <a:srgbClr val="1A1D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86000" y="46177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CA3AF"/>
                </a:solidFill>
              </a:defRPr>
            </a:pPr>
            <a:r>
              <a:t>2025 반도체 매출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502920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3B82F6"/>
                </a:solidFill>
              </a:defRPr>
            </a:pPr>
            <a:r>
              <a:t>$7,917억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0" y="4572000"/>
            <a:ext cx="2286000" cy="1097280"/>
          </a:xfrm>
          <a:prstGeom prst="roundRect">
            <a:avLst/>
          </a:prstGeom>
          <a:solidFill>
            <a:srgbClr val="1A1D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0" y="46177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CA3AF"/>
                </a:solidFill>
              </a:defRPr>
            </a:pPr>
            <a:r>
              <a:t>2026 전망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0" y="502920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3B82F6"/>
                </a:solidFill>
              </a:defRPr>
            </a:pPr>
            <a:r>
              <a:t>$1조+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0" y="4572000"/>
            <a:ext cx="2286000" cy="1097280"/>
          </a:xfrm>
          <a:prstGeom prst="roundRect">
            <a:avLst/>
          </a:prstGeom>
          <a:solidFill>
            <a:srgbClr val="1A1D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0" y="46177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CA3AF"/>
                </a:solidFill>
              </a:defRPr>
            </a:pPr>
            <a:r>
              <a:t>빅테크 AI Capex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502920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3B82F6"/>
                </a:solidFill>
              </a:defRPr>
            </a:pPr>
            <a:r>
              <a:t>$270–305B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6217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CA3AF"/>
                </a:solidFill>
              </a:defRPr>
            </a:pPr>
            <a:r>
              <a:t>Semiconductor Research Team  |  2026.02.28  | 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Bull / Base / Bear 시나리오 핵심 수치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CA3AF"/>
                </a:solidFill>
              </a:defRPr>
            </a:pPr>
            <a:r>
              <a:t>AI capex 성장률에 따라 2027년 웨이퍼 수요 2배+ 격차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1124712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병목 우선순위 — CoWoS → HBM → 원재료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CA3AF"/>
                </a:solidFill>
              </a:defRPr>
            </a:pPr>
            <a:r>
              <a:t>HBM은 전 시나리오에서 2027까지 만성 부족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1124712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AI칩별 웨이퍼 소모량 (2025F)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CA3AF"/>
                </a:solidFill>
              </a:defRPr>
            </a:pPr>
            <a:r>
              <a:t>NVIDIA가 로직의 42% — 단일 기업 의존도 극대화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1124712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감도 분석 — 핵심 변수별 웨이퍼 수요 스윙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CA3AF"/>
                </a:solidFill>
              </a:defRPr>
            </a:pPr>
            <a:r>
              <a:t>Capex 성장률이 최대 변수 (로직 18–22%, HBM 16–20% 스윙)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1124712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빅테크 AI Capex → 반도체 전환 경로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1124712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CoWoS 분기별 수급 Trajectory (Base)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CA3AF"/>
                </a:solidFill>
              </a:defRPr>
            </a:pPr>
            <a:r>
              <a:t>2026Q3 수급 균형 도달 — Bull에서는 2027까지 부족 지속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1124712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HBM 분기별 수급 Trajectory (Base)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CA3AF"/>
                </a:solidFill>
              </a:defRPr>
            </a:pPr>
            <a:r>
              <a:t>2027Q4까지 전 분기 부족 — 16-Hi 전환 시 비선형 확대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1124712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파운드리 경쟁 — 점유율 재배분 시나리오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CA3AF"/>
                </a:solidFill>
              </a:defRPr>
            </a:pPr>
            <a:r>
              <a:t>Intel/삼성 성공해도 총 웨이퍼 수요 불변 — TSMC 최상위 노드 독점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1124712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리스크 정량화 — 확률 × 영향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1124712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투자 시사점 — 밸류체인별 시나리오 수혜도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CA3AF"/>
                </a:solidFill>
              </a:defRPr>
            </a:pPr>
            <a:r>
              <a:t>TSMC·SK하이닉스 Bull/Base 최고 수혜, 장비는 Bear에서도 방어적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1124712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Bear 전환 시 포지션 축소 — 순서와 타이밍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1124712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모니터링 대시보드 — Trigger Points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CA3AF"/>
                </a:solidFill>
              </a:defRPr>
            </a:pPr>
            <a:r>
              <a:t>Bull 3개+ 충족 → 비중확대  |  Bear 2개+ 충족 → 축소실행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1124712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결론 — 5가지 핵심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097280"/>
            <a:ext cx="10698480" cy="868680"/>
          </a:xfrm>
          <a:prstGeom prst="roundRect">
            <a:avLst/>
          </a:prstGeom>
          <a:solidFill>
            <a:srgbClr val="1A1D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14400" y="1234439"/>
            <a:ext cx="594360" cy="59436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11887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B82F6"/>
                </a:solidFill>
              </a:defRPr>
            </a:pPr>
            <a:r>
              <a:t>병목 우선순위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15544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CA3AF"/>
                </a:solidFill>
              </a:defRPr>
            </a:pPr>
            <a:r>
              <a:t>CoWoS(26Q3 해소) → HBM(27까지 만성) → 원재료(Bull만)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148839"/>
            <a:ext cx="10698480" cy="868680"/>
          </a:xfrm>
          <a:prstGeom prst="roundRect">
            <a:avLst/>
          </a:prstGeom>
          <a:solidFill>
            <a:srgbClr val="1A1D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14400" y="2285999"/>
            <a:ext cx="594360" cy="5943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240279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0B981"/>
                </a:solidFill>
              </a:defRPr>
            </a:pPr>
            <a:r>
              <a:t>최대 변수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606039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CA3AF"/>
                </a:solidFill>
              </a:defRPr>
            </a:pPr>
            <a:r>
              <a:t>Capex ±10%p → 웨이퍼 수요 16–22% 스윙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200400"/>
            <a:ext cx="10698480" cy="868680"/>
          </a:xfrm>
          <a:prstGeom prst="roundRect">
            <a:avLst/>
          </a:prstGeom>
          <a:solidFill>
            <a:srgbClr val="1A1D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14400" y="3337560"/>
            <a:ext cx="594360" cy="59436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32918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8B5CF6"/>
                </a:solidFill>
              </a:defRPr>
            </a:pPr>
            <a:r>
              <a:t>경쟁 구도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6576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CA3AF"/>
                </a:solidFill>
              </a:defRPr>
            </a:pPr>
            <a:r>
              <a:t>Intel/삼성 성공해도 총수요 불변 — TSMC 최상위 독점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251959"/>
            <a:ext cx="10698480" cy="868680"/>
          </a:xfrm>
          <a:prstGeom prst="roundRect">
            <a:avLst/>
          </a:prstGeom>
          <a:solidFill>
            <a:srgbClr val="1A1D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14400" y="4389120"/>
            <a:ext cx="594360" cy="59436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343399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F4444"/>
                </a:solidFill>
              </a:defRPr>
            </a:pPr>
            <a:r>
              <a:t>최대 리스크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709159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CA3AF"/>
                </a:solidFill>
              </a:defRPr>
            </a:pPr>
            <a:r>
              <a:t>AI버블+긴축 동시(8%) → 반도체 매출 –$150B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5303520"/>
            <a:ext cx="10698480" cy="868680"/>
          </a:xfrm>
          <a:prstGeom prst="roundRect">
            <a:avLst/>
          </a:prstGeom>
          <a:solidFill>
            <a:srgbClr val="1A1D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14400" y="5440680"/>
            <a:ext cx="594360" cy="59436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5394959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59E0B"/>
                </a:solidFill>
              </a:defRPr>
            </a:pPr>
            <a:r>
              <a:t>투자 핵심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57607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CA3AF"/>
                </a:solidFill>
              </a:defRPr>
            </a:pPr>
            <a:r>
              <a:t>Bear시 NVIDIA 1순위 축소(1–2Q), 장비/원재료 보유(4–6Q)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217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CA3AF"/>
                </a:solidFill>
              </a:defRPr>
            </a:pPr>
            <a:r>
              <a:t>Semiconductor Research Team  |  2026.02.28  |  Confidential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